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AeroFix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34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+ Human-in-the-Loop Decision Support for Aircraft Powerplant Maintenance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Cessna 172 Lycoming O-320 &amp; Airbus A320 CFM56-5B Engine Troubleshooting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51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Surya MV — 231501166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 Kumar E — 231501127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Tanish PS — 231501170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651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M. Soundarya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Professor, Department of AI&amp;ML,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Rajalakshmi Engineering College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365760"/>
          </a:xfrm>
          <a:prstGeom prst="roundRect">
            <a:avLst>
              <a:gd name="adj" fmla="val 7500"/>
            </a:avLst>
          </a:prstGeom>
          <a:solidFill>
            <a:srgbClr val="6E4B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Project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Business Case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2926080"/>
          </a:xfrm>
          <a:prstGeom prst="roundRect">
            <a:avLst>
              <a:gd name="adj" fmla="val 938"/>
            </a:avLst>
          </a:prstGeom>
          <a:solidFill>
            <a:srgbClr val="3B20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07592"/>
            <a:ext cx="370332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Aircraft-on-Ground (AOG) cost bleed: a single grounded A320 costs operators an estimated $10K–$150K per day in lost revenue and penalties while technicians search manuals.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complexity: the A320 CFM56-5B AMM spans 3,000+ pages (ATA 72–80); finding one ECAM fault-isolation procedure can take 45–90 minutes.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risk: cross-referencing torque values, part numbers and service bulletin revisions by hand is a leading contributor to maintenance-induced discrepancies.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2926080"/>
          </a:xfrm>
          <a:prstGeom prst="roundRect">
            <a:avLst>
              <a:gd name="adj" fmla="val 938"/>
            </a:avLst>
          </a:prstGeom>
          <a:solidFill>
            <a:srgbClr val="6E4B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70332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Case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hrs → &lt;60 sec: fault-isolation lookup time per ECAM/CAS message, technician-reported to AeroFix AI-assisted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$120K+/day: AOG cost exposure directly addressable by faster, guided diagnostics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100%: of committed repair steps carry a human sign-off — zero compliance penalty exposure from unverified AI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6667"/>
            </a:avLst>
          </a:prstGeom>
          <a:solidFill>
            <a:srgbClr val="6E4B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diagnostics, cited sources, human sign-off.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4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OFFLINE: KNOWLEDGE INGESTION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783080" cy="640080"/>
          </a:xfrm>
          <a:prstGeom prst="roundRect">
            <a:avLst>
              <a:gd name="adj" fmla="val 4286"/>
            </a:avLst>
          </a:prstGeom>
          <a:solidFill>
            <a:srgbClr val="3B205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Documents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 · POH · FAA SB/AD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40280" y="1691640"/>
            <a:ext cx="36576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06040" y="1371600"/>
            <a:ext cx="1783080" cy="640080"/>
          </a:xfrm>
          <a:prstGeom prst="roundRect">
            <a:avLst>
              <a:gd name="adj" fmla="val 4286"/>
            </a:avLst>
          </a:prstGeom>
          <a:solidFill>
            <a:srgbClr val="3B20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5176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&amp; Clean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text-searchable PDFs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89120" y="1691640"/>
            <a:ext cx="36576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54880" y="1371600"/>
            <a:ext cx="1783080" cy="640080"/>
          </a:xfrm>
          <a:prstGeom prst="roundRect">
            <a:avLst>
              <a:gd name="adj" fmla="val 4286"/>
            </a:avLst>
          </a:prstGeom>
          <a:solidFill>
            <a:srgbClr val="3B205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0060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37960" y="1691640"/>
            <a:ext cx="36576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371600"/>
            <a:ext cx="1783080" cy="640080"/>
          </a:xfrm>
          <a:prstGeom prst="roundRect">
            <a:avLst>
              <a:gd name="adj" fmla="val 4286"/>
            </a:avLst>
          </a:prstGeom>
          <a:solidFill>
            <a:srgbClr val="6E4B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4944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/ Supabase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1488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4B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ONLINE: LANGGRAPH AGENT WORKFLOW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322326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95260" y="2011680"/>
            <a:ext cx="0" cy="32004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2331720"/>
            <a:ext cx="0" cy="22860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2560320"/>
            <a:ext cx="1463040" cy="731520"/>
          </a:xfrm>
          <a:prstGeom prst="roundRect">
            <a:avLst>
              <a:gd name="adj" fmla="val 3750"/>
            </a:avLst>
          </a:prstGeom>
          <a:solidFill>
            <a:srgbClr val="6E4B8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292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/ Gradio UI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920240" y="2926080"/>
            <a:ext cx="22860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48840" y="2560320"/>
            <a:ext cx="1463040" cy="731520"/>
          </a:xfrm>
          <a:prstGeom prst="roundRect">
            <a:avLst>
              <a:gd name="adj" fmla="val 3750"/>
            </a:avLst>
          </a:prstGeom>
          <a:solidFill>
            <a:srgbClr val="6E4B8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19456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Input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ECAM / CAS code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2926080"/>
            <a:ext cx="22860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840480" y="2560320"/>
            <a:ext cx="1463040" cy="731520"/>
          </a:xfrm>
          <a:prstGeom prst="roundRect">
            <a:avLst>
              <a:gd name="adj" fmla="val 3750"/>
            </a:avLst>
          </a:prstGeom>
          <a:solidFill>
            <a:srgbClr val="6E4B8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88620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Retrieval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 / TSM passages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303520" y="2926080"/>
            <a:ext cx="22860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532120" y="2560320"/>
            <a:ext cx="1463040" cy="731520"/>
          </a:xfrm>
          <a:prstGeom prst="roundRect">
            <a:avLst>
              <a:gd name="adj" fmla="val 3750"/>
            </a:avLst>
          </a:prstGeom>
          <a:solidFill>
            <a:srgbClr val="6E4B8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57784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Drafting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Claude 3.5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995160" y="2926080"/>
            <a:ext cx="22860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223760" y="2560320"/>
            <a:ext cx="1463040" cy="731520"/>
          </a:xfrm>
          <a:prstGeom prst="roundRect">
            <a:avLst>
              <a:gd name="adj" fmla="val 3750"/>
            </a:avLst>
          </a:prstGeom>
          <a:solidFill>
            <a:srgbClr val="8B6FB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269480" y="2560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Breakpoint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PENDING_REVIEW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772400" y="3291840"/>
            <a:ext cx="0" cy="32004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492240" y="3611880"/>
            <a:ext cx="2194560" cy="640080"/>
          </a:xfrm>
          <a:prstGeom prst="roundRect">
            <a:avLst>
              <a:gd name="adj" fmla="val 4286"/>
            </a:avLst>
          </a:prstGeom>
          <a:solidFill>
            <a:srgbClr val="3B205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3796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Screen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beside manual snippet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474720" y="3611880"/>
            <a:ext cx="2194560" cy="640080"/>
          </a:xfrm>
          <a:prstGeom prst="roundRect">
            <a:avLst>
              <a:gd name="adj" fmla="val 4286"/>
            </a:avLst>
          </a:prstGeom>
          <a:solidFill>
            <a:srgbClr val="3B205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52044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Decision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edit / reject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3611880"/>
            <a:ext cx="2194560" cy="640080"/>
          </a:xfrm>
          <a:prstGeom prst="roundRect">
            <a:avLst>
              <a:gd name="adj" fmla="val 4286"/>
            </a:avLst>
          </a:prstGeom>
          <a:solidFill>
            <a:srgbClr val="6E4B8B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2920" y="3611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Log</a:t>
            </a:r>
            <a:endParaRPr lang="en-US" sz="10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sign-off entry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H="1">
            <a:off x="5669280" y="3931920"/>
            <a:ext cx="82296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>
            <a:off x="2651760" y="3931920"/>
            <a:ext cx="822960" cy="0"/>
          </a:xfrm>
          <a:prstGeom prst="line">
            <a:avLst/>
          </a:prstGeom>
          <a:noFill/>
          <a:ln w="19050">
            <a:solidFill>
              <a:srgbClr val="3B2059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57200" y="4389120"/>
            <a:ext cx="8229600" cy="320040"/>
          </a:xfrm>
          <a:prstGeom prst="roundRect">
            <a:avLst>
              <a:gd name="adj" fmla="val 8571"/>
            </a:avLst>
          </a:prstGeom>
          <a:solidFill>
            <a:srgbClr val="6E4B8B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technician's sign-off can write to the maintenance log.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Agentic AI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1234440"/>
          </a:xfrm>
          <a:prstGeom prst="roundRect">
            <a:avLst>
              <a:gd name="adj" fmla="val 2222"/>
            </a:avLst>
          </a:prstGeom>
          <a:solidFill>
            <a:srgbClr val="3B20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07592"/>
            <a:ext cx="1645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Fault Input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enters ECAM/CAS code (e.g. "ENG 1 EGT OVER LIMIT")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1234440"/>
          </a:xfrm>
          <a:prstGeom prst="roundRect">
            <a:avLst>
              <a:gd name="adj" fmla="val 2222"/>
            </a:avLst>
          </a:prstGeom>
          <a:solidFill>
            <a:srgbClr val="3B20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97480" y="1307592"/>
            <a:ext cx="1645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RAG Retrieval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AMM/TSM section retrieved by vector similarity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1920240" cy="1234440"/>
          </a:xfrm>
          <a:prstGeom prst="roundRect">
            <a:avLst>
              <a:gd name="adj" fmla="val 2222"/>
            </a:avLst>
          </a:prstGeom>
          <a:solidFill>
            <a:srgbClr val="3B20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307592"/>
            <a:ext cx="1645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Draft Generation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synthesizes a step-by-step repair draft with page citations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234440"/>
            <a:ext cx="1920240" cy="1234440"/>
          </a:xfrm>
          <a:prstGeom prst="roundRect">
            <a:avLst>
              <a:gd name="adj" fmla="val 2222"/>
            </a:avLst>
          </a:prstGeom>
          <a:solidFill>
            <a:srgbClr val="8B6F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307592"/>
            <a:ext cx="1645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HITL Gate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halts — agent cannot finalize or log the action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08760"/>
          </a:xfrm>
          <a:prstGeom prst="roundRect">
            <a:avLst>
              <a:gd name="adj" fmla="val 1818"/>
            </a:avLst>
          </a:prstGeom>
          <a:solidFill>
            <a:srgbClr val="3B20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724912"/>
            <a:ext cx="3703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AeroFix AI ingests a fault or error code, retrieves the exact AMM/Troubleshooting Manual (TSM) section via RAG, and drafts a numbered repair procedure — each step tagged with its source manual, chapter and page number for verifiability.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2651760"/>
            <a:ext cx="3977640" cy="1508760"/>
          </a:xfrm>
          <a:prstGeom prst="roundRect">
            <a:avLst>
              <a:gd name="adj" fmla="val 1818"/>
            </a:avLst>
          </a:prstGeom>
          <a:solidFill>
            <a:srgbClr val="6E4B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2724912"/>
            <a:ext cx="3703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Guardrail (Non-Negotiable)</a:t>
            </a:r>
            <a:endParaRPr lang="en-US" sz="14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is architecturally barred from writing to the digital maintenance log. Every draft forces a PENDING_REVIEW pause state; only a certified technician's explicit approval, edit or rejection — with digital sign-off — can commit an entry.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6667"/>
            </a:avLst>
          </a:prstGeom>
          <a:solidFill>
            <a:srgbClr val="6E4B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2976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Cited drafts, controlled tools, human control.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&amp; Knowledge Source Identification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749808"/>
          </a:xfrm>
          <a:prstGeom prst="roundRect">
            <a:avLst>
              <a:gd name="adj" fmla="val 3659"/>
            </a:avLst>
          </a:prstGeom>
          <a:solidFill>
            <a:srgbClr val="3B20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2344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Aircraft Maintenance Manuals (AMM)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23444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Cessna 172 (Lycoming O-320 powerplant, Ch. 71–80) and Airbus A320 CFM56-5B (ATA 72–80) — publicly available sample/training AMM excerpts.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8229600" cy="749808"/>
          </a:xfrm>
          <a:prstGeom prst="roundRect">
            <a:avLst>
              <a:gd name="adj" fmla="val 3659"/>
            </a:avLst>
          </a:prstGeom>
          <a:solidFill>
            <a:srgbClr val="6E4B8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1031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Operating Handbooks (POH)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Cessna 172 POH Section 3 (Emergency Procedures) and Section 8 (Handling, Servicing &amp; Maintenance) for cross-reference context.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749808"/>
          </a:xfrm>
          <a:prstGeom prst="roundRect">
            <a:avLst>
              <a:gd name="adj" fmla="val 3659"/>
            </a:avLst>
          </a:prstGeom>
          <a:solidFill>
            <a:srgbClr val="3B20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297180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 Service Bulletins &amp; ADs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971800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Relevant Airworthiness Directives and OEM Service Bulletins for the CFM56-5B and O-320, providing revision authority for retrieved procedures.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8B6FB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3959352"/>
            <a:ext cx="7955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Bef>
                <a:spcPts val="400"/>
              </a:spcBef>
              <a:buNone/>
            </a:pPr>
            <a:r>
              <a:rPr lang="en-US" sz="10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1-Week MVP Constraint: ingestion is scoped to clean, text-searchable PDFs only — complex structural schematics, wiring diagrams and scanned image-only pages are excluded from v1 to keep chunking and embedding reliable within the sprint.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 &amp; Framework Selection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508760"/>
          </a:xfrm>
          <a:prstGeom prst="roundRect">
            <a:avLst>
              <a:gd name="adj" fmla="val 1818"/>
            </a:avLst>
          </a:prstGeom>
          <a:solidFill>
            <a:srgbClr val="3B20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07592"/>
            <a:ext cx="3703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stateful-graph execution with built-in breakpoints — the exact primitive needed to pause for Human-in-the-Loop review.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3977640" cy="1508760"/>
          </a:xfrm>
          <a:prstGeom prst="roundRect">
            <a:avLst>
              <a:gd name="adj" fmla="val 1818"/>
            </a:avLst>
          </a:prstGeom>
          <a:solidFill>
            <a:srgbClr val="6E4B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0" y="1307592"/>
            <a:ext cx="3703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CORE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Claude 3.5 Sonnet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structured reasoning over dense engineering and torque/tolerance specifications, with reliable citation formatting.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977640" cy="1508760"/>
          </a:xfrm>
          <a:prstGeom prst="roundRect">
            <a:avLst>
              <a:gd name="adj" fmla="val 1818"/>
            </a:avLst>
          </a:prstGeom>
          <a:solidFill>
            <a:srgbClr val="3B20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953512"/>
            <a:ext cx="3703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STORE / RAG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LlamaIndex + Pinecone or Supabase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document ingestion pipeline paired with a lightweight, zero-ops vector database suited to a 1-week build.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880360"/>
            <a:ext cx="3977640" cy="1508760"/>
          </a:xfrm>
          <a:prstGeom prst="roundRect">
            <a:avLst>
              <a:gd name="adj" fmla="val 1818"/>
            </a:avLst>
          </a:prstGeom>
          <a:solidFill>
            <a:srgbClr val="6E4B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2953512"/>
            <a:ext cx="37033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FRONTEND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/ Gradio</a:t>
            </a:r>
            <a:endParaRPr lang="en-US" sz="11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Low-code, Python-native interface enabling rapid iteration on the review-and-approve screen without a separate frontend build.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Workflow &amp; Orchestration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932688"/>
          </a:xfrm>
          <a:prstGeom prst="roundRect">
            <a:avLst>
              <a:gd name="adj" fmla="val 2941"/>
            </a:avLst>
          </a:prstGeom>
          <a:solidFill>
            <a:srgbClr val="3B20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307592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enters the fault code (e.g. A320 ECAM "ENG 1 EGT OVER LIMIT") into the AeroFix AI interface.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3977640" cy="932688"/>
          </a:xfrm>
          <a:prstGeom prst="roundRect">
            <a:avLst>
              <a:gd name="adj" fmla="val 2941"/>
            </a:avLst>
          </a:prstGeom>
          <a:solidFill>
            <a:srgbClr val="3B20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331720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RAG Retrieval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performs vector search across the ingested AMM/TSM corpus and extracts the relevant handbook passages.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3977640" cy="932688"/>
          </a:xfrm>
          <a:prstGeom prst="roundRect">
            <a:avLst>
              <a:gd name="adj" fmla="val 2941"/>
            </a:avLst>
          </a:prstGeom>
          <a:solidFill>
            <a:srgbClr val="3B20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335584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LLM Drafting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synthesizes step-by-step repair instructions, citing the exact source manual, chapter and page for every step.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234440"/>
            <a:ext cx="3977640" cy="932688"/>
          </a:xfrm>
          <a:prstGeom prst="roundRect">
            <a:avLst>
              <a:gd name="adj" fmla="val 2941"/>
            </a:avLst>
          </a:prstGeom>
          <a:solidFill>
            <a:srgbClr val="8B6FB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1307592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Breakpoint — PENDING_REVIEW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triggers a state transition and halts execution; the agent cannot proceed or write to the log unattended.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2258568"/>
            <a:ext cx="3977640" cy="932688"/>
          </a:xfrm>
          <a:prstGeom prst="roundRect">
            <a:avLst>
              <a:gd name="adj" fmla="val 2941"/>
            </a:avLst>
          </a:prstGeom>
          <a:solidFill>
            <a:srgbClr val="6E4B8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46320" y="2331720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UI Render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displays the drafted procedure side-by-side with the original manual snippet for direct visual verification.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3282696"/>
            <a:ext cx="3977640" cy="932688"/>
          </a:xfrm>
          <a:prstGeom prst="roundRect">
            <a:avLst>
              <a:gd name="adj" fmla="val 2941"/>
            </a:avLst>
          </a:prstGeom>
          <a:solidFill>
            <a:srgbClr val="6E4B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0" y="335584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Human Output</a:t>
            </a:r>
            <a:endParaRPr lang="en-US" sz="12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Technician approves, edits or rejects the steps; only their action commits the entry to the digital maintenance log.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343400"/>
            <a:ext cx="8229600" cy="365760"/>
          </a:xfrm>
          <a:prstGeom prst="roundRect">
            <a:avLst>
              <a:gd name="adj" fmla="val 7500"/>
            </a:avLst>
          </a:prstGeom>
          <a:solidFill>
            <a:srgbClr val="6E4B8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 for review — nothing is logged without a technician.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82880"/>
            <a:ext cx="8229600" cy="731520"/>
          </a:xfrm>
          <a:prstGeom prst="roundRect">
            <a:avLst>
              <a:gd name="adj" fmla="val 3750"/>
            </a:avLst>
          </a:prstGeom>
          <a:solidFill>
            <a:srgbClr val="3B205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EFE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Plan &amp; Milestones — 1-Week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566160" y="987552"/>
            <a:ext cx="2011680" cy="54864"/>
          </a:xfrm>
          <a:prstGeom prst="roundRect">
            <a:avLst>
              <a:gd name="adj" fmla="val 50000"/>
            </a:avLst>
          </a:prstGeom>
          <a:solidFill>
            <a:srgbClr val="8B6FB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828800" y="48006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AI &amp; ML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554480" cy="2468880"/>
          </a:xfrm>
          <a:prstGeom prst="roundRect">
            <a:avLst>
              <a:gd name="adj" fmla="val 1765"/>
            </a:avLst>
          </a:prstGeom>
          <a:solidFill>
            <a:srgbClr val="3B20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Ingestion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AMM/POH/FAA PDFs; chunk, clean and embed the Cessna 172 &amp; A320 corpus.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5980" y="1234440"/>
            <a:ext cx="1554480" cy="2468880"/>
          </a:xfrm>
          <a:prstGeom prst="roundRect">
            <a:avLst>
              <a:gd name="adj" fmla="val 1765"/>
            </a:avLst>
          </a:prstGeom>
          <a:solidFill>
            <a:srgbClr val="6E4B8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17420" y="128016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RAG Pipeline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LlamaIndex retrieval over the vector store; validate fault-code-to-passage accuracy.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94760" y="1234440"/>
            <a:ext cx="1554480" cy="2468880"/>
          </a:xfrm>
          <a:prstGeom prst="roundRect">
            <a:avLst>
              <a:gd name="adj" fmla="val 1765"/>
            </a:avLst>
          </a:prstGeom>
          <a:solidFill>
            <a:srgbClr val="8B6F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86200" y="128016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HITL State Machine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stateful graph with the PENDING_REVIEW breakpoint and approval/rejection edges.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63540" y="1234440"/>
            <a:ext cx="1554480" cy="2468880"/>
          </a:xfrm>
          <a:prstGeom prst="roundRect">
            <a:avLst>
              <a:gd name="adj" fmla="val 1765"/>
            </a:avLst>
          </a:prstGeom>
          <a:solidFill>
            <a:srgbClr val="6E4B8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54980" y="128016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UI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fault-input screen and the side-by-side draft/manual review-and-sign-off interface.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1234440"/>
            <a:ext cx="1554480" cy="2468880"/>
          </a:xfrm>
          <a:prstGeom prst="roundRect">
            <a:avLst>
              <a:gd name="adj" fmla="val 1765"/>
            </a:avLst>
          </a:prstGeom>
          <a:solidFill>
            <a:srgbClr val="3B20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23760" y="1280160"/>
            <a:ext cx="137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5</a:t>
            </a:r>
            <a:endParaRPr lang="en-US" sz="10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2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&amp; Demo</a:t>
            </a:r>
            <a:endParaRPr lang="en-US" sz="10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950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end-to-end test cases on both aircraft types; rehearse the live demo and capture fallback cases.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4000"/>
            </a:avLst>
          </a:prstGeom>
          <a:solidFill>
            <a:srgbClr val="6E4B8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9319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a demoable MVP — fault code in, cited repair draft out, zero unverified writes to the maintenance log.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2026-10-05T13:37:44Z</dcterms:created>
  <dcterms:modified xsi:type="dcterms:W3CDTF">2026-10-05T13:37:44Z</dcterms:modified>
</cp:coreProperties>
</file>